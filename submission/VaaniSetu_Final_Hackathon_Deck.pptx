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47c7e3ccce54789" /><Relationship Type="http://schemas.openxmlformats.org/officeDocument/2006/relationships/extended-properties" Target="/docProps/app.xml" Id="Rf075c9f813e24ab3" /><Relationship Type="http://schemas.openxmlformats.org/officeDocument/2006/relationships/officeDocument" Target="/ppt/presentation.xml" Id="Ra53f45aef66e4d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fbb993e5dbd46aa"/>
  </p:sldMasterIdLst>
  <p:notesMasterIdLst>
    <p:notesMasterId xmlns:r="http://schemas.openxmlformats.org/officeDocument/2006/relationships" r:id="Rea557abb14fe42ac"/>
  </p:notesMasterIdLst>
  <p:sldIdLst>
    <p:sldId xmlns:r="http://schemas.openxmlformats.org/officeDocument/2006/relationships" id="256" r:id="R54531b64f7544b61"/>
    <p:sldId xmlns:r="http://schemas.openxmlformats.org/officeDocument/2006/relationships" id="257" r:id="R3a815ee2ffb44907"/>
    <p:sldId xmlns:r="http://schemas.openxmlformats.org/officeDocument/2006/relationships" id="258" r:id="Rf6d145ca66d6418f"/>
    <p:sldId xmlns:r="http://schemas.openxmlformats.org/officeDocument/2006/relationships" id="259" r:id="Red7438998b094999"/>
    <p:sldId xmlns:r="http://schemas.openxmlformats.org/officeDocument/2006/relationships" id="260" r:id="R0b4e6c8c0c234f9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2c5ee607da0410d" /><Relationship Type="http://schemas.openxmlformats.org/officeDocument/2006/relationships/slideMaster" Target="/ppt/slideMasters/slideMaster1.xml" Id="R1fbb993e5dbd46aa" /><Relationship Type="http://schemas.openxmlformats.org/officeDocument/2006/relationships/notesMaster" Target="/ppt/notesMasters/notesMaster1.xml" Id="Rea557abb14fe42ac" /><Relationship Type="http://schemas.openxmlformats.org/officeDocument/2006/relationships/presProps" Target="/ppt/presProps.xml" Id="Rce076c67b34348ff" /><Relationship Type="http://schemas.openxmlformats.org/officeDocument/2006/relationships/tableStyles" Target="/ppt/tableStyles.xml" Id="R5403c93481244ffc" /><Relationship Type="http://schemas.openxmlformats.org/officeDocument/2006/relationships/slide" Target="/ppt/slides/slide1.xml" Id="R54531b64f7544b61" /><Relationship Type="http://schemas.openxmlformats.org/officeDocument/2006/relationships/slide" Target="/ppt/slides/slide2.xml" Id="R3a815ee2ffb44907" /><Relationship Type="http://schemas.openxmlformats.org/officeDocument/2006/relationships/slide" Target="/ppt/slides/slide3.xml" Id="Rf6d145ca66d6418f" /><Relationship Type="http://schemas.openxmlformats.org/officeDocument/2006/relationships/slide" Target="/ppt/slides/slide4.xml" Id="Red7438998b094999" /><Relationship Type="http://schemas.openxmlformats.org/officeDocument/2006/relationships/slide" Target="/ppt/slides/slide5.xml" Id="R0b4e6c8c0c234f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955fe8738fc43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e2daa2f396b4b7a" /><Relationship Type="http://schemas.openxmlformats.org/officeDocument/2006/relationships/notesMaster" Target="/ppt/notesMasters/notesMaster1.xml" Id="Re87ce2f04d2948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97ae2ab17647cb" /><Relationship Type="http://schemas.openxmlformats.org/officeDocument/2006/relationships/notesMaster" Target="/ppt/notesMasters/notesMaster1.xml" Id="R77d6aaf84c1c46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e1a2893ac944dff" /><Relationship Type="http://schemas.openxmlformats.org/officeDocument/2006/relationships/notesMaster" Target="/ppt/notesMasters/notesMaster1.xml" Id="R75706f8e4c01452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93c57ca650c49d1" /><Relationship Type="http://schemas.openxmlformats.org/officeDocument/2006/relationships/notesMaster" Target="/ppt/notesMasters/notesMaster1.xml" Id="Red66fe0d7567457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7b27a76d3f4dca" /><Relationship Type="http://schemas.openxmlformats.org/officeDocument/2006/relationships/notesMaster" Target="/ppt/notesMasters/notesMaster1.xml" Id="R4ec33fea0c3a43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BAIF organiser communications supplied for the final audit (26 May–22 Aug 2026)</a:t>
            </a:r>
          </a:p>
          <a:p xmlns:a="http://schemas.openxmlformats.org/drawingml/2006/main">
            <a:r>
              <a:t>- README.md and AUDIT.md, verified 22 Aug 2026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USAGE.md and frontend/index.html, verified 22 Aug 2026</a:t>
            </a:r>
          </a:p>
          <a:p xmlns:a="http://schemas.openxmlformats.org/drawingml/2006/main">
            <a:r>
              <a:t>- tests/test_core.py and tests/test_adversarial.py, verified 22 Aug 2026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ARCHITECTURE.md, COMPATIBILITY.md and requirements.txt, verified 22 Aug 2026</a:t>
            </a:r>
          </a:p>
          <a:p xmlns:a="http://schemas.openxmlformats.org/drawingml/2006/main">
            <a:r>
              <a:t>- BAIF target-environment clarification supplied for the final audit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TESTING.md, tests/test_core.py and tests/test_adversarial.py, verified 22 Aug 2026</a:t>
            </a:r>
          </a:p>
          <a:p xmlns:a="http://schemas.openxmlformats.org/drawingml/2006/main">
            <a:r>
              <a:t>- Local verification: 77 automated tests and six translation directions passed, 22 Aug 2026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Bhashini API documentation, “Overall Understanding”: https://dibd-bhashini.gitbook.io/bhashini-apis</a:t>
            </a:r>
          </a:p>
          <a:p xmlns:a="http://schemas.openxmlformats.org/drawingml/2006/main">
            <a:r>
              <a:t>- Bhashini API documentation, “Pipeline Compute Call”: https://dibd-bhashini.gitbook.io/bhashini-apis/pipeline-compute-call</a:t>
            </a:r>
          </a:p>
          <a:p xmlns:a="http://schemas.openxmlformats.org/drawingml/2006/main">
            <a:r>
              <a:t>- VaaniSetu README.md, AUDIT.md and TESTING.md, verified 1 Sep 2026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9338d7873e46c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9e63049eae94114" /><Relationship Type="http://schemas.openxmlformats.org/officeDocument/2006/relationships/slideLayout" Target="/ppt/slideLayouts/slideLayout1.xml" Id="R70c868133f594e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0c868133f594e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647570d8749c6" /><Relationship Type="http://schemas.openxmlformats.org/officeDocument/2006/relationships/notesSlide" Target="/ppt/notesSlides/notesSlide1.xml" Id="Rc0ba4f27f999481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6cf7bf6494668" /><Relationship Type="http://schemas.openxmlformats.org/officeDocument/2006/relationships/notesSlide" Target="/ppt/notesSlides/notesSlide2.xml" Id="R990127109d3d4be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5f0c87206d4fff" /><Relationship Type="http://schemas.openxmlformats.org/officeDocument/2006/relationships/notesSlide" Target="/ppt/notesSlides/notesSlide3.xml" Id="R9e9d9c1dbd3746d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795e425490499e" /><Relationship Type="http://schemas.openxmlformats.org/officeDocument/2006/relationships/notesSlide" Target="/ppt/notesSlides/notesSlide4.xml" Id="R2b5313e8cc974ac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a3652b0bf404b" /><Relationship Type="http://schemas.openxmlformats.org/officeDocument/2006/relationships/notesSlide" Target="/ppt/notesSlides/notesSlide5.xml" Id="Rf3e02abe01e0457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5FC901C-7F38-4579-90A2-21B1A0E4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F6F3EB"/>
          </a:solidFill>
          <a:ln xmlns:a="http://schemas.openxmlformats.org/drawingml/2006/main" w="9525">
            <a:solidFill>
              <a:srgbClr val="F6F3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B98785-B826-4117-B65F-AE0E5D1DE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1450"/>
            <a:ext cx="3048000" cy="3048000"/>
          </a:xfrm>
          <a:prstGeom xmlns:a="http://schemas.openxmlformats.org/drawingml/2006/main" prst="ellipse">
            <a:avLst/>
          </a:prstGeom>
          <a:gradFill xmlns:a="http://schemas.openxmlformats.org/drawingml/2006/main">
            <a:gsLst>
              <a:gs pos="0">
                <a:srgbClr val="DDEFE7"/>
              </a:gs>
              <a:gs pos="55000">
                <a:srgbClr val="DDEFE7">
                  <a:alpha val="35000"/>
                </a:srgbClr>
              </a:gs>
              <a:gs pos="100000">
                <a:srgbClr val="DDEFE7">
                  <a:alpha val="0"/>
                </a:srgbClr>
              </a:gs>
            </a:gsLst>
            <a:path path="shape"/>
          </a:gradFill>
          <a:ln xmlns:a="http://schemas.openxmlformats.org/drawingml/2006/main" w="9525">
            <a:solidFill>
              <a:srgbClr val="DDEFE7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16828-B924-419D-AC1D-640B0C4F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2476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7"/>
          </a:solidFill>
          <a:ln xmlns:a="http://schemas.openxmlformats.org/drawingml/2006/main" w="9525">
            <a:solidFill>
              <a:srgbClr val="DDEF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D4F4B"/>
                </a:solidFill>
              </a:defRPr>
            </a:pPr>
            <a:r>
              <a:rPr sz="1125" b="1">
                <a:solidFill>
                  <a:srgbClr val="0D4F4B"/>
                </a:solidFill>
              </a:rPr>
              <a:t>BAIF KNOWLEDGE ACCESS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DEBB3E-2A2E-4D12-808F-B21C0D6ED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4095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17212B"/>
                </a:solidFill>
              </a:defRPr>
            </a:pPr>
            <a:r>
              <a:rPr sz="4200" b="1">
                <a:solidFill>
                  <a:srgbClr val="17212B"/>
                </a:solidFill>
              </a:rPr>
              <a:t>VaaniSetu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5021B3-2B55-4392-B001-79766C24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5334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637083"/>
                </a:solidFill>
              </a:defRPr>
            </a:pPr>
            <a:r>
              <a:rPr sz="1800" b="0">
                <a:solidFill>
                  <a:srgbClr val="637083"/>
                </a:solidFill>
              </a:rPr>
              <a:t>One local workflow turns office learning content into reviewer-approved, offline field assets.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8A842-D66C-41DA-8FF1-32B13E66C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4857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The gap</a:t>
            </a:r>
          </a:p>
          <a:p xmlns:a="http://schemas.openxmlformats.org/drawingml/2006/main">
            <a:pPr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Translation happens in Pune. Learning must still reach every village in Hindi, Marathi and English—even when field internet disappears.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B926C0-8449-4A18-93A3-27C8B5675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67200"/>
            <a:ext cx="13525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FFF3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8A5A00"/>
                </a:solidFill>
              </a:defRPr>
            </a:pPr>
            <a:r>
              <a:rPr sz="1125" b="1">
                <a:solidFill>
                  <a:srgbClr val="8A5A00"/>
                </a:solidFill>
              </a:rPr>
              <a:t>3 languages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0064B46-BFA8-49AA-A051-1A51D007C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6720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EA"/>
          </a:solidFill>
          <a:ln xmlns:a="http://schemas.openxmlformats.org/drawingml/2006/main" w="9525">
            <a:solidFill>
              <a:srgbClr val="EAF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C8F3D"/>
                </a:solidFill>
              </a:defRPr>
            </a:pPr>
            <a:r>
              <a:rPr sz="1125" b="1">
                <a:solidFill>
                  <a:srgbClr val="5C8F3D"/>
                </a:solidFill>
              </a:rPr>
              <a:t>CPU only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053788-81E4-4E0A-A337-39E43D3B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267200"/>
            <a:ext cx="15240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E8E0"/>
          </a:solidFill>
          <a:ln xmlns:a="http://schemas.openxmlformats.org/drawingml/2006/main" w="9525">
            <a:solidFill>
              <a:srgbClr val="FFE8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9D3E2B"/>
                </a:solidFill>
              </a:defRPr>
            </a:pPr>
            <a:r>
              <a:rPr sz="1125" b="1">
                <a:solidFill>
                  <a:srgbClr val="9D3E2B"/>
                </a:solidFill>
              </a:rPr>
              <a:t>Offline-ready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ACD4C4-8B77-4B99-8D2F-2271FE805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390650"/>
            <a:ext cx="16954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BAIF learning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Audio · video · docs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88EA8B-40AE-4010-94C0-A15118FA8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219200"/>
            <a:ext cx="17526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Pune office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Translate · 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22B4F2-B204-425F-90FA-FD26EDF53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43300"/>
            <a:ext cx="209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8E8"/>
          </a:solidFill>
          <a:ln xmlns:a="http://schemas.openxmlformats.org/drawingml/2006/main" w="9525">
            <a:solidFill>
              <a:srgbClr val="E9D4A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Field teams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Open · play offline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0D942F-26C4-4A9D-8A40-3BC32AC5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952625"/>
            <a:ext cx="4381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A5D24B-14D8-4D5B-946B-26BA5380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97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6C66"/>
                </a:solidFill>
              </a:defRPr>
            </a:pPr>
            <a:r>
              <a:rPr sz="1500" b="1">
                <a:solidFill>
                  <a:srgbClr val="126C66"/>
                </a:solidFill>
              </a:rPr>
              <a:t>&gt;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9654A8-7B73-4D96-A474-ABF3A51C1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686050"/>
            <a:ext cx="91440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964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86D0A6-5144-4E0D-B76C-363D96996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4004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D9644A"/>
                </a:solidFill>
              </a:defRPr>
            </a:pPr>
            <a:r>
              <a:rPr sz="1500" b="1">
                <a:solidFill>
                  <a:srgbClr val="D9644A"/>
                </a:solidFill>
              </a:rPr>
              <a:t>&lt;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28F660-209C-4E8B-B7F0-A5DD37D18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143500"/>
            <a:ext cx="4000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D4F4B"/>
                </a:solidFill>
              </a:defRPr>
            </a:pPr>
            <a:r>
              <a:rPr sz="1425" b="1">
                <a:solidFill>
                  <a:srgbClr val="0D4F4B"/>
                </a:solidFill>
              </a:rPr>
              <a:t>Not a one-off translator: a controlled, reusable content-delivery system.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84D3F0-B5B1-4149-923D-E474B377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187110-2A9D-4A88-895F-B32733DC8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BB8988-199D-44DF-80E7-2D1E08F73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69813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55C81B-F8A6-49FE-B621-7B2D22891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TRAINER JOURNEY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2DB201-7120-425F-8C75-47EACDBA8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A trainer reaches a trustworthy field package in five clear steps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182DEC-386C-478A-A003-76CD2CCC3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The interface reveals complexity only when it helps a reviewer make a better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D366B-A024-4372-A18F-3CC44DC65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675EE7-ADD6-4818-BA40-AD3D99DC1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E933F2-BA4B-46F8-B2B0-85973829A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Choose content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FCEC82-4258-452A-93D9-71828ADF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Record, paste or upload—up to ten files.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F23AD9-15CC-45E3-BC80-4343C60AC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3311F-53DB-4651-BB2B-2C7A8E4F2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C8F3D"/>
          </a:solidFill>
          <a:ln xmlns:a="http://schemas.openxmlformats.org/drawingml/2006/main" w="9525">
            <a:solidFill>
              <a:srgbClr val="5C8F3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B1E993-0D86-42AC-B75C-EBFE8FD15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Translate locally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C420F5-B07C-4A55-8EA7-F0E83F2F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CPU-safe queue with progress and recovery.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D9A7E8-C035-4DC2-95F8-6B5D2D61F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12AF13-149B-4E13-9593-ACDDC8529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BA993-EFB7-4296-8920-AD6C285F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Check trust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A5EFEC-5FB4-428F-B3DD-BD15253E5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Invariants, script, glossary, provenance.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ED8181-D209-4D48-97D8-BBC757DFB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9334BB-3DB7-469B-B82D-1803F411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644A"/>
          </a:solidFill>
          <a:ln xmlns:a="http://schemas.openxmlformats.org/drawingml/2006/main" w="9525">
            <a:solidFill>
              <a:srgbClr val="D9644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DB53B5-1C70-4DD1-97C1-AE7633C1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Correct + approve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7F5701F-F47C-4257-8722-5CD780B4C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Versioned decision; optional exact reuse.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926FB2-1E52-47CD-9142-4A620C1A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47950"/>
            <a:ext cx="18859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8CDC06-9D93-422C-899C-52BAD71DF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819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D4F4B"/>
          </a:solidFill>
          <a:ln xmlns:a="http://schemas.openxmlformats.org/drawingml/2006/main" w="9525">
            <a:solidFill>
              <a:srgbClr val="0D4F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A19254-CDF0-4AF1-BB29-4E090EEA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8003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Take offline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A8EACD-E14B-4B55-B036-4E56C5EA9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3200400"/>
            <a:ext cx="1504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37083"/>
                </a:solidFill>
              </a:defRPr>
            </a:pPr>
            <a:r>
              <a:rPr sz="1125" b="0">
                <a:solidFill>
                  <a:srgbClr val="637083"/>
                </a:solidFill>
              </a:rPr>
              <a:t>Verified ZIP, text, captions and audio/video.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78FB167-71DD-40D9-B75B-0FCAC882B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6A060E-021F-42E8-A485-A491D7037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94175C-5F5C-407B-A902-CB5E60CD9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70C1290-7B82-40F3-A02C-A3B52A48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3AB10A6-D271-4CE8-90F3-30170F4A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3AF42D-48B1-482D-B02C-2AFD87987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CFF888-F4BC-4995-B276-5D17C5B61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200400"/>
            <a:ext cx="228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063F07-C752-4284-A207-8FB7F7D7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5752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57F7-2D40-4CDF-ACE2-8254EEF55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514850"/>
            <a:ext cx="92583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Experience promise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No model jargon or terminal steps in the trainer path—only actionable errors, saved history and outputs that open without the server.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7E0D09F-7D96-4A5E-A014-2DE7181A2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64EEFE8-AD1C-46E5-9899-41E899CA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A547AA-DACC-458A-8621-E98B86FA4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5451620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3EB765-CB5D-477A-B931-3365F0871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ARCHITECTURE THAT FITS BAIF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03A6DA-449C-4496-B5CF-5FA6DE6B3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The constraints are the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777D52-09C0-4D3D-AE24-DB5B1EC6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Windows 11 · 16 GB RAM · six CPU cores · no GPU · office translation · offline field playback.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72F36D-9415-447A-86D4-957D6E4A1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05150"/>
            <a:ext cx="16954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Authenticated browser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12B"/>
                </a:solidFill>
              </a:defRPr>
            </a:pPr>
            <a:r>
              <a:rPr sz="1350" b="1">
                <a:solidFill>
                  <a:srgbClr val="17212B"/>
                </a:solidFill>
              </a:rPr>
              <a:t>Record · text · upload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3061AF-CA9C-4706-B296-6F99ABA9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57500"/>
            <a:ext cx="194310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FastAPI local worker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Validation · queue · recovery · history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EDB59-9965-49B8-9409-D937C5FF1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590925"/>
            <a:ext cx="552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D3241-8097-4C67-8F3D-3A8A50BD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480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26C66"/>
                </a:solidFill>
              </a:defRPr>
            </a:pPr>
            <a:r>
              <a:rPr sz="1500" b="1">
                <a:solidFill>
                  <a:srgbClr val="126C66"/>
                </a:solidFill>
              </a:rPr>
              <a:t>&gt;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F8239-3182-43B9-8D7C-465214157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133600"/>
            <a:ext cx="21145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Input + extraction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FFmpeg · PDF/Office · OCR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A35EFF-DA3D-4FC5-838D-E2BE0FA1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38500"/>
            <a:ext cx="21145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C9DC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Speech-to-text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faster-whisper CPU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71D11D-C6FC-41AF-8896-D6EA6FF0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343400"/>
            <a:ext cx="211455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E9D4A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Translation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IndicTrans2-ready · local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93454F-BADA-4306-9E47-E58DB7C7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571750"/>
            <a:ext cx="723900" cy="10191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E8E8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853D69-D484-4114-A049-9E99F908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90925"/>
            <a:ext cx="723900" cy="85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E8E8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3ECD2-5425-4225-B275-725DF8C49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590925"/>
            <a:ext cx="723900" cy="1190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7E8E8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CD8B7B-CF88-433E-8A0A-A4CE823E5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95600"/>
            <a:ext cx="2381250" cy="18669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Integrity-protected bundle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Text · SRT/VTT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Speech/video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Checksums</a:t>
            </a:r>
          </a:p>
          <a:p xmlns:a="http://schemas.openxmlformats.org/drawingml/2006/main">
            <a:pPr algn="ctr">
              <a:buNone/>
              <a:defRPr sz="1425" b="1">
                <a:solidFill>
                  <a:srgbClr val="17212B"/>
                </a:solidFill>
              </a:defRPr>
            </a:pPr>
            <a:r>
              <a:rPr sz="1425" b="1">
                <a:solidFill>
                  <a:srgbClr val="17212B"/>
                </a:solidFill>
              </a:rPr>
              <a:t>CONTENTS.html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7482EF-877C-4CEF-8378-8D7DF539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571750"/>
            <a:ext cx="800100" cy="12573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42883EB-5FBC-41A1-9EB6-F3A519ED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76650"/>
            <a:ext cx="80010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33D1D9-B121-44C9-8E99-572A812D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829050"/>
            <a:ext cx="800100" cy="952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26C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CCE827-7907-43D3-AA8D-56FA00F5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1333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DEFE7"/>
          </a:solidFill>
          <a:ln xmlns:a="http://schemas.openxmlformats.org/drawingml/2006/main" w="9525">
            <a:solidFill>
              <a:srgbClr val="DDEFE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D4F4B"/>
                </a:solidFill>
              </a:defRPr>
            </a:pPr>
            <a:r>
              <a:rPr sz="1125" b="1">
                <a:solidFill>
                  <a:srgbClr val="0D4F4B"/>
                </a:solidFill>
              </a:rPr>
              <a:t>Open source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6423495-9B6D-48EA-A78F-CBF31902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5581650"/>
            <a:ext cx="14287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FFF3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8A5A00"/>
                </a:solidFill>
              </a:defRPr>
            </a:pPr>
            <a:r>
              <a:rPr sz="1125" b="1">
                <a:solidFill>
                  <a:srgbClr val="8A5A00"/>
                </a:solidFill>
              </a:rPr>
              <a:t>One CPU worker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765908-C9C2-4980-A4E9-B81CB139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581650"/>
            <a:ext cx="1619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E8E0"/>
          </a:solidFill>
          <a:ln xmlns:a="http://schemas.openxmlformats.org/drawingml/2006/main" w="9525">
            <a:solidFill>
              <a:srgbClr val="FFE8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9D3E2B"/>
                </a:solidFill>
              </a:defRPr>
            </a:pPr>
            <a:r>
              <a:rPr sz="1125" b="1">
                <a:solidFill>
                  <a:srgbClr val="9D3E2B"/>
                </a:solidFill>
              </a:rPr>
              <a:t>No hosted content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F90DCC-56A2-4EAB-ABBC-16763D95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581650"/>
            <a:ext cx="16573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EA"/>
          </a:solidFill>
          <a:ln xmlns:a="http://schemas.openxmlformats.org/drawingml/2006/main" w="9525">
            <a:solidFill>
              <a:srgbClr val="EAF3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5C8F3D"/>
                </a:solidFill>
              </a:defRPr>
            </a:pPr>
            <a:r>
              <a:rPr sz="1125" b="1">
                <a:solidFill>
                  <a:srgbClr val="5C8F3D"/>
                </a:solidFill>
              </a:rPr>
              <a:t>Handover-ready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D18A66-A182-40C6-AE34-FB505464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9F9EF5E-5E3B-4417-8F7C-78D0F3C5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2C6E07-178E-46E0-91CD-3638970F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1025150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D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663D38-13B6-465B-B377-748ACB9C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QUALITY IS A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5E0CD6-A7B7-45A2-A163-EEC0A92C0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Trust is engineered around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BEE41-31BA-4BDA-B760-9F33406F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Every output carries evidence a reviewer can inspect, correct and reuse.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1D3E56-FEB3-4D64-BED1-5AF25E99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62200"/>
            <a:ext cx="3429000" cy="2724150"/>
          </a:xfrm>
          <a:prstGeom xmlns:a="http://schemas.openxmlformats.org/drawingml/2006/main" prst="roundRect">
            <a:avLst>
              <a:gd name="adj" fmla="val 419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2C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583F0E-C30D-4A3A-8163-C1A43C6C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289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Release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892BB-E031-4D3D-9A0E-ECFA7303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004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D6666C-4243-48FF-A9A5-6F50AA00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432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Automated suite passes cleanly.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FCCAB-8A3F-4129-84A2-AA1F2090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33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388BD0-CF6F-42BF-8070-49CE7A8AA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76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20 adversarial regressions target failures and races.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647B73-AE17-4183-BEAA-A5539981A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C5419F-730A-48A9-A23F-7098098B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210050"/>
            <a:ext cx="2438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Six English, Hindi and Marathi directions.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AF266-69D9-43E6-974B-5853B3D9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876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A23A"/>
          </a:solidFill>
          <a:ln xmlns:a="http://schemas.openxmlformats.org/drawingml/2006/main" w="9525">
            <a:solidFill>
              <a:srgbClr val="EAA2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47E48-773C-4081-8106-75694F19C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12B"/>
                </a:solidFill>
              </a:defRPr>
            </a:pPr>
            <a:r>
              <a:rPr sz="1275" b="0">
                <a:solidFill>
                  <a:srgbClr val="17212B"/>
                </a:solidFill>
              </a:rPr>
              <a:t>30 min audio · 15 min video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3D678F-1FC4-462C-B188-6677C3E1C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Validate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Limits + type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C21F8A-3B96-4AA7-A339-28FCBCFC9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Extract /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transcribe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624878-E0D7-4EF2-86EA-F6B8DBD8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Translate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locally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A1A28C-E72B-4B29-B025-6F2885B33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Review +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</a:defRPr>
            </a:pPr>
            <a:r>
              <a:rPr sz="1275" b="1">
                <a:solidFill>
                  <a:srgbClr val="FFFFFF"/>
                </a:solidFill>
              </a:rPr>
              <a:t>approve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96CB7B-D87F-4678-9842-3DE4F1D9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476500"/>
            <a:ext cx="11811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Package +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12B"/>
                </a:solidFill>
              </a:defRPr>
            </a:pPr>
            <a:r>
              <a:rPr sz="1275" b="1">
                <a:solidFill>
                  <a:srgbClr val="17212B"/>
                </a:solidFill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291135-007A-4FA6-B490-06E23A7B6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8B0B4B-50F6-46FC-A9A1-06650F1B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60C4498-1615-438C-ADFA-7C5453A8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042C6F-47FB-4262-AB52-BC264A5B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E08FF3A-094C-4C29-AE0D-57373AFC7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4DC966-D196-4980-98B0-E43E7E80A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85CFC8-3451-4025-AA60-ECF9ABDD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2990850"/>
            <a:ext cx="209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A69D8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2CFAD6F-ADAE-4E00-BF63-9F22F3A4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847975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A69D8D"/>
                </a:solidFill>
              </a:defRPr>
            </a:pPr>
            <a:r>
              <a:rPr sz="1500" b="1">
                <a:solidFill>
                  <a:srgbClr val="A69D8D"/>
                </a:solidFill>
              </a:rPr>
              <a:t>&gt;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50C662-51BD-4E7A-92BC-1CAEB4E8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4095750"/>
            <a:ext cx="6210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C9DC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212B"/>
                </a:solidFill>
              </a:defRPr>
            </a:pPr>
            <a:r>
              <a:rPr sz="1650" b="1">
                <a:solidFill>
                  <a:srgbClr val="17212B"/>
                </a:solidFill>
              </a:rPr>
              <a:t>Built-in controls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7212B"/>
                </a:solidFill>
              </a:defRPr>
            </a:pPr>
            <a:r>
              <a:rPr sz="1650" b="1">
                <a:solidFill>
                  <a:srgbClr val="17212B"/>
                </a:solidFill>
              </a:rPr>
              <a:t>Preservation · script/terminology · provenance · versioning · checksum verification.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55573D-B294-486D-8F84-9875C6BF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3D72D5-A024-4728-A2AB-F373386CF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555467-1DB2-4C58-94F6-FB025C488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2687170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8CFC4E5-60AC-4DE9-8153-C18B35AF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6C66"/>
                </a:solidFill>
              </a:defRPr>
            </a:pPr>
            <a:r>
              <a:rPr sz="1050" b="1">
                <a:solidFill>
                  <a:srgbClr val="126C66"/>
                </a:solidFill>
              </a:rPr>
              <a:t>BEST-FIT DIFFERENTIATION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367A42-3756-471D-8CDA-0F80F31E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001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7212B"/>
                </a:solidFill>
              </a:defRPr>
            </a:pPr>
            <a:r>
              <a:rPr sz="3000" b="1">
                <a:solidFill>
                  <a:srgbClr val="17212B"/>
                </a:solidFill>
              </a:rPr>
              <a:t>Built for BAIF’s workflow—not an unproven model claim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3F41EC-AB73-4BEF-B068-4F17A934D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001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37083"/>
                </a:solidFill>
              </a:defRPr>
            </a:pPr>
            <a:r>
              <a:rPr sz="1425" b="0">
                <a:solidFill>
                  <a:srgbClr val="637083"/>
                </a:solidFill>
              </a:rPr>
              <a:t>Bhashini offers breadth; VaaniSetu operationalises review, reuse and offline field delivery.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B3687-4EBD-4D70-8F0D-082862F98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0670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FBD593-254E-433F-8330-708CC8B4F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26C66"/>
          </a:solidFill>
          <a:ln xmlns:a="http://schemas.openxmlformats.org/drawingml/2006/main" w="9525">
            <a:solidFill>
              <a:srgbClr val="126C6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BHASHINI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509996-71F1-44DA-9F6B-6D2BFFF8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Breadth &amp; APIs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97899F-B804-4C74-9B59-4CC24F7E6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67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7083"/>
                </a:solidFill>
              </a:defRPr>
            </a:pPr>
            <a:r>
              <a:rPr sz="1200" b="0">
                <a:solidFill>
                  <a:srgbClr val="637083"/>
                </a:solidFill>
              </a:rPr>
              <a:t>Broad Indian-language model and API ecosystem.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56CF9F-6B4C-4DA5-82B9-C1263C66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76500"/>
            <a:ext cx="30670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67643C-26EB-4FE3-9D18-4C45A2E2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8605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3D8"/>
          </a:solidFill>
          <a:ln xmlns:a="http://schemas.openxmlformats.org/drawingml/2006/main" w="9525">
            <a:solidFill>
              <a:srgbClr val="FFF3D8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8A5A00"/>
                </a:solidFill>
              </a:defRPr>
            </a:pPr>
            <a:r>
              <a:rPr sz="1125" b="1">
                <a:solidFill>
                  <a:srgbClr val="8A5A00"/>
                </a:solidFill>
              </a:rPr>
              <a:t>LOCAL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52F677-61F6-4DB4-A40A-0E6D3BF29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Controlled workflow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E0D6BB-4A01-4D2C-8A4A-58BCC8006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467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7083"/>
                </a:solidFill>
              </a:defRPr>
            </a:pPr>
            <a:r>
              <a:rPr sz="1200" b="0">
                <a:solidFill>
                  <a:srgbClr val="637083"/>
                </a:solidFill>
              </a:rPr>
              <a:t>Human review, exact reuse and verified offline packages.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41523E-3E56-4B19-9AD3-A4B0C6EE1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476500"/>
            <a:ext cx="306705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D2C3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6864DC-4110-402D-BC53-9537BD8D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686050"/>
            <a:ext cx="10287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E8E0"/>
          </a:solidFill>
          <a:ln xmlns:a="http://schemas.openxmlformats.org/drawingml/2006/main" w="9525">
            <a:solidFill>
              <a:srgbClr val="FFE8E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9D3E2B"/>
                </a:solidFill>
              </a:defRPr>
            </a:pPr>
            <a:r>
              <a:rPr sz="1125" b="1">
                <a:solidFill>
                  <a:srgbClr val="9D3E2B"/>
                </a:solidFill>
              </a:rPr>
              <a:t>CLAIMS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F83D9F-CF19-4347-875A-AFD966677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242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17212B"/>
                </a:solidFill>
              </a:defRPr>
            </a:pPr>
            <a:r>
              <a:rPr sz="1800" b="1">
                <a:solidFill>
                  <a:srgbClr val="17212B"/>
                </a:solidFill>
              </a:rPr>
              <a:t>Honest 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DDCB0D-D2DF-4102-B0B7-40257731B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67100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37083"/>
                </a:solidFill>
              </a:defRPr>
            </a:pPr>
            <a:r>
              <a:rPr sz="1200" b="0">
                <a:solidFill>
                  <a:srgbClr val="637083"/>
                </a:solidFill>
              </a:rPr>
              <a:t>No measured quality or latency uplift is claimed.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2FDA19-3933-421B-A1F8-358443BC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68961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17212B"/>
          </a:solidFill>
          <a:ln xmlns:a="http://schemas.openxmlformats.org/drawingml/2006/main" w="9525">
            <a:solidFill>
              <a:srgbClr val="17212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Why it matters to BAIF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Privacy, provenance, review, recovery and reuse surround every translation.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66DDC1-6132-4CAD-AFBA-0106DF57E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419600"/>
            <a:ext cx="34671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2F8F4"/>
          </a:solidFill>
          <a:ln xmlns:a="http://schemas.openxmlformats.org/drawingml/2006/main" w="9525">
            <a:solidFill>
              <a:srgbClr val="C9DCC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Best-fit choice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17212B"/>
                </a:solidFill>
              </a:defRPr>
            </a:pPr>
            <a:r>
              <a:rPr sz="1500" b="1">
                <a:solidFill>
                  <a:srgbClr val="17212B"/>
                </a:solidFill>
              </a:rPr>
              <a:t>Bhashini for breadth; VaaniSetu for controlled office-to-field operations.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DEBD06-0376-4349-8E8A-C0020C15C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962525"/>
            <a:ext cx="342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EAA23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1C5663-977F-4F5E-8B01-40F0ECA6D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19650"/>
            <a:ext cx="228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EAA23A"/>
                </a:solidFill>
              </a:defRPr>
            </a:pPr>
            <a:r>
              <a:rPr sz="1500" b="1">
                <a:solidFill>
                  <a:srgbClr val="EAA23A"/>
                </a:solidFill>
              </a:rPr>
              <a:t>&gt;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B88E05-AA94-4C82-ADF9-CA2E820E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791200"/>
            <a:ext cx="969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D4F4B"/>
                </a:solidFill>
              </a:defRPr>
            </a:pPr>
            <a:r>
              <a:rPr sz="1500" b="1">
                <a:solidFill>
                  <a:srgbClr val="0D4F4B"/>
                </a:solidFill>
              </a:rPr>
              <a:t>VaaniSetu turns translation into a governed, reusable BAIF content operation.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104547-7660-4231-BA2F-8FA574589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37083"/>
                </a:solidFill>
              </a:defRPr>
            </a:pPr>
            <a:r>
              <a:rPr sz="975" b="1">
                <a:solidFill>
                  <a:srgbClr val="637083"/>
                </a:solidFill>
              </a:rPr>
              <a:t>VaaniSetu for BAIF Hackathon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0C65BE-8244-41ED-9C18-66CD453B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362700"/>
            <a:ext cx="495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126C66"/>
                </a:solidFill>
              </a:defRPr>
            </a:pPr>
            <a:r>
              <a:rPr sz="1200" b="1">
                <a:solidFill>
                  <a:srgbClr val="126C66"/>
                </a:solidFill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5D17A4D-398B-46BB-A735-E69B159F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2DCC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4550732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2026-09-01T13:11:08.5730000Z</dcterms:created>
  <dcterms:modified xsi:type="dcterms:W3CDTF">2026-09-01T13:11:08.5730000Z</dcterms:modified>
</coreProperties>
</file>