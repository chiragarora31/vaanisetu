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3d527c14d493c" /><Relationship Type="http://schemas.openxmlformats.org/officeDocument/2006/relationships/extended-properties" Target="/docProps/app.xml" Id="R3ef435fdf9ad4095" /><Relationship Type="http://schemas.openxmlformats.org/officeDocument/2006/relationships/officeDocument" Target="/ppt/presentation.xml" Id="Re59650cdba2e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b0070b5594430"/>
  </p:sldMasterIdLst>
  <p:notesMasterIdLst>
    <p:notesMasterId xmlns:r="http://schemas.openxmlformats.org/officeDocument/2006/relationships" r:id="R0594ba7e5edd44be"/>
  </p:notesMasterIdLst>
  <p:sldIdLst>
    <p:sldId xmlns:r="http://schemas.openxmlformats.org/officeDocument/2006/relationships" id="256" r:id="Refb857bad6314e7c"/>
    <p:sldId xmlns:r="http://schemas.openxmlformats.org/officeDocument/2006/relationships" id="257" r:id="R3027833821a54d6a"/>
    <p:sldId xmlns:r="http://schemas.openxmlformats.org/officeDocument/2006/relationships" id="258" r:id="Rdb8480efe4054f67"/>
    <p:sldId xmlns:r="http://schemas.openxmlformats.org/officeDocument/2006/relationships" id="259" r:id="R934b34e4f2f04adf"/>
    <p:sldId xmlns:r="http://schemas.openxmlformats.org/officeDocument/2006/relationships" id="260" r:id="R1d4ff854c20949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a474909b904019" /><Relationship Type="http://schemas.openxmlformats.org/officeDocument/2006/relationships/slideMaster" Target="/ppt/slideMasters/slideMaster1.xml" Id="R2b4b0070b5594430" /><Relationship Type="http://schemas.openxmlformats.org/officeDocument/2006/relationships/notesMaster" Target="/ppt/notesMasters/notesMaster1.xml" Id="R0594ba7e5edd44be" /><Relationship Type="http://schemas.openxmlformats.org/officeDocument/2006/relationships/presProps" Target="/ppt/presProps.xml" Id="R3da1efe734ae4271" /><Relationship Type="http://schemas.openxmlformats.org/officeDocument/2006/relationships/tableStyles" Target="/ppt/tableStyles.xml" Id="Rd03788e4850144c6" /><Relationship Type="http://schemas.openxmlformats.org/officeDocument/2006/relationships/slide" Target="/ppt/slides/slide1.xml" Id="Refb857bad6314e7c" /><Relationship Type="http://schemas.openxmlformats.org/officeDocument/2006/relationships/slide" Target="/ppt/slides/slide2.xml" Id="R3027833821a54d6a" /><Relationship Type="http://schemas.openxmlformats.org/officeDocument/2006/relationships/slide" Target="/ppt/slides/slide3.xml" Id="Rdb8480efe4054f67" /><Relationship Type="http://schemas.openxmlformats.org/officeDocument/2006/relationships/slide" Target="/ppt/slides/slide4.xml" Id="R934b34e4f2f04adf" /><Relationship Type="http://schemas.openxmlformats.org/officeDocument/2006/relationships/slide" Target="/ppt/slides/slide5.xml" Id="R1d4ff854c209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d4488afa5649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39b49c767485f" /><Relationship Type="http://schemas.openxmlformats.org/officeDocument/2006/relationships/notesMaster" Target="/ppt/notesMasters/notesMaster1.xml" Id="Rba291146e10b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6824f64d64e09" /><Relationship Type="http://schemas.openxmlformats.org/officeDocument/2006/relationships/notesMaster" Target="/ppt/notesMasters/notesMaster1.xml" Id="R7aa127c385d847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c5c34d80048ef" /><Relationship Type="http://schemas.openxmlformats.org/officeDocument/2006/relationships/notesMaster" Target="/ppt/notesMasters/notesMaster1.xml" Id="Ra56a3d7811ac43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ecfdf9a37f4b9a" /><Relationship Type="http://schemas.openxmlformats.org/officeDocument/2006/relationships/notesMaster" Target="/ppt/notesMasters/notesMaster1.xml" Id="R4cf965b97fba4e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074682121e454a" /><Relationship Type="http://schemas.openxmlformats.org/officeDocument/2006/relationships/notesMaster" Target="/ppt/notesMasters/notesMaster1.xml" Id="R214cc63c675f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BAIF organiser guidance, 26 Jun–16 Jul 2026 (screenshots supplied with the repository task)</a:t>
            </a:r>
          </a:p>
          <a:p xmlns:a="http://schemas.openxmlformats.org/drawingml/2006/main">
            <a:r>
              <a:t>- README.md and HACKATHON_REQUIREMENTS_AUDIT.md, accessed 28 Jul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USER_GUIDE.md and frontend/index.html, accessed 28 Jul 2026</a:t>
            </a:r>
          </a:p>
          <a:p xmlns:a="http://schemas.openxmlformats.org/drawingml/2006/main">
            <a:r>
              <a:t>- tests/test_core.py and tests/test_adversarial.py, accessed 28 Jul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BAIF_ARCHITECTURE_NOTE.md and DELIVERY_COMPATIBILITY.md, accessed 28 Jul 2026</a:t>
            </a:r>
          </a:p>
          <a:p xmlns:a="http://schemas.openxmlformats.org/drawingml/2006/main">
            <a:r>
              <a:t>- requirements.txt and core/, accessed 28 Jul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TEST_EVIDENCE.md and RELEASE_CHECKLIST.md, accessed 28 Jul 2026</a:t>
            </a:r>
          </a:p>
          <a:p xmlns:a="http://schemas.openxmlformats.org/drawingml/2006/main">
            <a:r>
              <a:t>- Local verification: 69 automated tests, 28 Jul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IMPLEMENTATION_ROADMAP.md, HANDOVER.md and UAT.md, accessed 28 Jul 2026</a:t>
            </a:r>
          </a:p>
          <a:p xmlns:a="http://schemas.openxmlformats.org/drawingml/2006/main">
            <a:r>
              <a:t>- BAIF organiser target-environment guidance supplied with the task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9ef455c5e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f73f1597e4ffe" /><Relationship Type="http://schemas.openxmlformats.org/officeDocument/2006/relationships/slideLayout" Target="/ppt/slideLayouts/slideLayout1.xml" Id="Racf8a96882ea42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8a96882ea42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a04c85d64b84" /><Relationship Type="http://schemas.openxmlformats.org/officeDocument/2006/relationships/notesSlide" Target="/ppt/notesSlides/notesSlide1.xml" Id="R9c60d7e3946146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894ca59224521" /><Relationship Type="http://schemas.openxmlformats.org/officeDocument/2006/relationships/notesSlide" Target="/ppt/notesSlides/notesSlide2.xml" Id="R5ec5245e02ca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d830b0ba47fd" /><Relationship Type="http://schemas.openxmlformats.org/officeDocument/2006/relationships/notesSlide" Target="/ppt/notesSlides/notesSlide3.xml" Id="Rc19329f2de3446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5d08d3cd4bf4" /><Relationship Type="http://schemas.openxmlformats.org/officeDocument/2006/relationships/notesSlide" Target="/ppt/notesSlides/notesSlide4.xml" Id="R4a7821aa073a4b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33243fcf14666" /><Relationship Type="http://schemas.openxmlformats.org/officeDocument/2006/relationships/notesSlide" Target="/ppt/notesSlides/notesSlide5.xml" Id="R659f90958d31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C901C-7F38-4579-90A2-21B1A0E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6F3EB"/>
          </a:solidFill>
          <a:ln xmlns:a="http://schemas.openxmlformats.org/drawingml/2006/main" w="9525">
            <a:solidFill>
              <a:srgbClr val="F6F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98785-B826-4117-B65F-AE0E5D1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"/>
            <a:ext cx="3048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DEFE7"/>
              </a:gs>
              <a:gs pos="55000">
                <a:srgbClr val="DDEFE7">
                  <a:alpha val="35000"/>
                </a:srgbClr>
              </a:gs>
              <a:gs pos="100000">
                <a:srgbClr val="DDEFE7">
                  <a:alpha val="0"/>
                </a:srgbClr>
              </a:gs>
            </a:gsLst>
            <a:path path="shape"/>
          </a:gradFill>
          <a:ln xmlns:a="http://schemas.openxmlformats.org/drawingml/2006/main" w="9525">
            <a:solidFill>
              <a:srgbClr val="DDEFE7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16828-B924-419D-AC1D-640B0C4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DDE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D4F4B"/>
                </a:solidFill>
              </a:defRPr>
            </a:pPr>
            <a:r>
              <a:rPr sz="1125" b="1">
                <a:solidFill>
                  <a:srgbClr val="0D4F4B"/>
                </a:solidFill>
              </a:rPr>
              <a:t>BAIF KNOWLEDGE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BB3E-2A2E-4D12-808F-B21C0D6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7212B"/>
                </a:solidFill>
              </a:defRPr>
            </a:pPr>
            <a:r>
              <a:rPr sz="4200" b="1">
                <a:solidFill>
                  <a:srgbClr val="17212B"/>
                </a:solidFill>
              </a:rPr>
              <a:t>VaaniSetu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021B3-2B55-4392-B001-79766C2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37083"/>
                </a:solidFill>
              </a:defRPr>
            </a:pPr>
            <a:r>
              <a:rPr sz="1800" b="0">
                <a:solidFill>
                  <a:srgbClr val="637083"/>
                </a:solidFill>
              </a:rPr>
              <a:t>One local workflow turns office learning content into reviewer-approved, offline field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8A842-D66C-41DA-8FF1-32B13E66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857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The gap</a:t>
            </a:r>
          </a:p>
          <a:p xmlns:a="http://schemas.openxmlformats.org/drawingml/2006/main">
            <a:pPr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Translation happens in Pune. Learning must still reach every village in Hindi, Marathi and English—even when field internet disappears.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926C0-8449-4A18-93A3-27C8B56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A5A00"/>
                </a:solidFill>
              </a:defRPr>
            </a:pPr>
            <a:r>
              <a:rPr sz="1125" b="1">
                <a:solidFill>
                  <a:srgbClr val="8A5A00"/>
                </a:solidFill>
              </a:rPr>
              <a:t>3 languages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64B46-BFA8-49AA-A051-1A51D007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672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EA"/>
          </a:solidFill>
          <a:ln xmlns:a="http://schemas.openxmlformats.org/drawingml/2006/main" w="9525">
            <a:solidFill>
              <a:srgbClr val="EAF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C8F3D"/>
                </a:solidFill>
              </a:defRPr>
            </a:pPr>
            <a:r>
              <a:rPr sz="1125" b="1">
                <a:solidFill>
                  <a:srgbClr val="5C8F3D"/>
                </a:solidFill>
              </a:rPr>
              <a:t>CPU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53788-81E4-4E0A-A337-39E43D3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8E0"/>
          </a:solidFill>
          <a:ln xmlns:a="http://schemas.openxmlformats.org/drawingml/2006/main" w="9525">
            <a:solidFill>
              <a:srgbClr val="FFE8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D3E2B"/>
                </a:solidFill>
              </a:defRPr>
            </a:pPr>
            <a:r>
              <a:rPr sz="1125" b="1">
                <a:solidFill>
                  <a:srgbClr val="9D3E2B"/>
                </a:solidFill>
              </a:rPr>
              <a:t>Offline-ready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CD4C4-8B77-4B99-8D2F-2271FE8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90650"/>
            <a:ext cx="16954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BAIF learning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Audio · video · 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8EA8B-40AE-4010-94C0-A15118F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19200"/>
            <a:ext cx="1752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26C66"/>
          </a:solidFill>
          <a:ln xmlns:a="http://schemas.openxmlformats.org/drawingml/2006/main" w="9525">
            <a:solidFill>
              <a:srgbClr val="126C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Pune office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Translate ·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2B4F2-B204-425F-90FA-FD26EDF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9D4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Field teams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Open · play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D942F-26C4-4A9D-8A40-3BC32AC5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C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5D24B-14D8-4D5B-946B-26BA5380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6C66"/>
                </a:solidFill>
              </a:defRPr>
            </a:pPr>
            <a:r>
              <a:rPr sz="1500" b="1">
                <a:solidFill>
                  <a:srgbClr val="126C66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654A8-7B73-4D96-A474-ABF3A51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9144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64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6D0A6-5144-4E0D-B76C-363D9699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0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644A"/>
                </a:solidFill>
              </a:defRPr>
            </a:pPr>
            <a:r>
              <a:rPr sz="1500" b="1">
                <a:solidFill>
                  <a:srgbClr val="D9644A"/>
                </a:solidFill>
              </a:rPr>
              <a:t>&lt;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8F660-209C-4E8B-B7F0-A5DD37D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D4F4B"/>
                </a:solidFill>
              </a:defRPr>
            </a:pPr>
            <a:r>
              <a:rPr sz="1425" b="1">
                <a:solidFill>
                  <a:srgbClr val="0D4F4B"/>
                </a:solidFill>
              </a:rPr>
              <a:t>Not a one-off translator: a controlled, reusable content-delivery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4D3F0-B5B1-4149-923D-E474B37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VaaniSetu for BAIF 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87110-2A9D-4A88-895F-B32733DC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26C66"/>
                </a:solidFill>
              </a:defRPr>
            </a:pPr>
            <a:r>
              <a:rPr sz="1200" b="1">
                <a:solidFill>
                  <a:srgbClr val="126C66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B8988-199D-44DF-80E7-2D1E08F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C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981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55C81B-F8A6-49FE-B621-7B2D228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26C66"/>
                </a:solidFill>
              </a:defRPr>
            </a:pPr>
            <a:r>
              <a:rPr sz="1050" b="1">
                <a:solidFill>
                  <a:srgbClr val="126C66"/>
                </a:solidFill>
              </a:rPr>
              <a:t>TRAINER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DB201-7120-425F-8C75-47EACDBA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A trainer reaches a trustworthy field package in five clear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82DEC-386C-478A-A003-76CD2CCC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The interface reveals complexity only when it helps a reviewer make a better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D366B-A024-4372-A18F-3CC44DC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885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75EE7-ADD6-4818-BA40-AD3D99DC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66"/>
          </a:solidFill>
          <a:ln xmlns:a="http://schemas.openxmlformats.org/drawingml/2006/main" w="9525">
            <a:solidFill>
              <a:srgbClr val="126C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933F2-BA4B-46F8-B2B0-8597382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Choose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EC82-4258-452A-93D9-71828AD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Record, paste or upload—up to ten files.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23AD9-15CC-45E3-BC80-4343C60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47950"/>
            <a:ext cx="1885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3311F-53DB-4651-BB2B-2C7A8E4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F3D"/>
          </a:solidFill>
          <a:ln xmlns:a="http://schemas.openxmlformats.org/drawingml/2006/main" w="9525">
            <a:solidFill>
              <a:srgbClr val="5C8F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1E993-0D86-42AC-B75C-EBFE8FD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Translate locally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420F5-B07C-4A55-8EA7-F0E83F2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04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CPU-safe queue with progress and recovery.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9A7E8-C035-4DC2-95F8-6B5D2D61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1885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2AF13-149B-4E13-9593-ACDDC852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3A"/>
          </a:solidFill>
          <a:ln xmlns:a="http://schemas.openxmlformats.org/drawingml/2006/main" w="9525">
            <a:solidFill>
              <a:srgbClr val="EAA2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BA993-EFB7-4296-8920-AD6C285F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0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Check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5EFEC-5FB4-428F-B3DD-BD15253E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04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Invariants, script, glossary, provenance.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D8181-D209-4D48-97D8-BBC757D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885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334BB-3DB7-469B-B82D-1803F41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44A"/>
          </a:solidFill>
          <a:ln xmlns:a="http://schemas.openxmlformats.org/drawingml/2006/main" w="9525">
            <a:solidFill>
              <a:srgbClr val="D964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B53B5-1C70-4DD1-97C1-AE7633C1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Correct + 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5701F-F47C-4257-8722-5CD780B4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Versioned decision; optional exact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26FB2-1E52-47CD-9142-4A620C1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885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CDC06-9D93-422C-899C-52BAD71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F4B"/>
          </a:solidFill>
          <a:ln xmlns:a="http://schemas.openxmlformats.org/drawingml/2006/main" w="9525">
            <a:solidFill>
              <a:srgbClr val="0D4F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19254-CDF0-4AF1-BB29-4E090EEA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0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Take offline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8EACD-E14B-4B55-B036-4E56C5EA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37083"/>
                </a:solidFill>
              </a:defRPr>
            </a:pPr>
            <a:r>
              <a:rPr sz="1125" b="0">
                <a:solidFill>
                  <a:srgbClr val="637083"/>
                </a:solidFill>
              </a:rPr>
              <a:t>Verified ZIP, text, captions and audio/video.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FB167-71DD-40D9-B75B-0FCAC882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A060E-021F-42E8-A485-A491D703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4175C-5F5C-407B-A902-CB5E60C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C1290-7B82-40F3-A02C-A3B52A4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B10A6-D271-4CE8-90F3-30170F4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3AF42D-48B1-482D-B02C-2AFD8798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FF888-F4BC-4995-B276-5D17C5B6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63F07-C752-4284-A207-8FB7F7D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57F7-2D40-4CDF-ACE2-8254EEF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9258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Experience promise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 model jargon or terminal steps in the trainer path—only actionable errors, saved history and outputs that open without the server.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0D09F-7D96-4A5E-A014-2DE7181A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VaaniSetu for BAIF Hackathon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EEFE8-AD1C-46E5-9899-41E899C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26C66"/>
                </a:solidFill>
              </a:defRPr>
            </a:pPr>
            <a:r>
              <a:rPr sz="1200" b="1">
                <a:solidFill>
                  <a:srgbClr val="126C66"/>
                </a:solidFill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A547AA-DACC-458A-8621-E98B86F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C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5162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EB765-CB5D-477A-B931-3365F08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26C66"/>
                </a:solidFill>
              </a:defRPr>
            </a:pPr>
            <a:r>
              <a:rPr sz="1050" b="1">
                <a:solidFill>
                  <a:srgbClr val="126C66"/>
                </a:solidFill>
              </a:rPr>
              <a:t>ARCHITECTURE THAT FITS BAIF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3A6DA-449C-4496-B5CF-5FA6DE6B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The constraints are the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7D52-09C0-4D3D-AE24-DB5B1EC6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Windows 11 · 16 GB RAM · six CPU cores · no GPU · office translation · offline field playback.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2F36D-9415-447A-86D4-957D6E4A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954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Authenticated browser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Record · text · 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61AF-CA9C-4706-B296-6F99ABA9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26C66"/>
          </a:solidFill>
          <a:ln xmlns:a="http://schemas.openxmlformats.org/drawingml/2006/main" w="9525">
            <a:solidFill>
              <a:srgbClr val="126C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FastAPI local worker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Validation · queue · recovery ·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EDB59-9965-49B8-9409-D937C5F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909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C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D3241-8097-4C67-8F3D-3A8A50BD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6C66"/>
                </a:solidFill>
              </a:defRPr>
            </a:pPr>
            <a:r>
              <a:rPr sz="1500" b="1">
                <a:solidFill>
                  <a:srgbClr val="126C66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F8239-3182-43B9-8D7C-46521415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33600"/>
            <a:ext cx="21145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Input + extraction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FFmpeg · PDF/Office · 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5EFF-DA3D-4FC5-838D-E2BE0FA1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21145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C9DC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Speech-to-text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faster-whisper 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1D11D-C6FC-41AF-8896-D6EA6FF0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21145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9D4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Translation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IndicTrans2-ready ·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3454F-BADA-4306-9E47-E58DB7C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72390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E8E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53D69-D484-4114-A049-9E99F90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90925"/>
            <a:ext cx="7239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E8E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3ECD2-5425-4225-B275-725DF8C4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90925"/>
            <a:ext cx="7239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E8E8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D8B7B-CF88-433E-8A0A-A4CE823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381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Integrity-protected bundle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Text · SRT/VTT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Speech/video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Checksums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CONTENTS.html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482EF-877C-4CEF-8378-8D7DF539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80010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C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883EB-5FBC-41A1-9EB6-F3A519ED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8001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C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3D1D9-B121-44C9-8E99-572A812D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8001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C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CE827-7907-43D3-AA8D-56FA00F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DDE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D4F4B"/>
                </a:solidFill>
              </a:defRPr>
            </a:pPr>
            <a:r>
              <a:rPr sz="1125" b="1">
                <a:solidFill>
                  <a:srgbClr val="0D4F4B"/>
                </a:solidFill>
              </a:rPr>
              <a:t>Open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23495-9B6D-48EA-A78F-CBF3190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816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A5A00"/>
                </a:solidFill>
              </a:defRPr>
            </a:pPr>
            <a:r>
              <a:rPr sz="1125" b="1">
                <a:solidFill>
                  <a:srgbClr val="8A5A00"/>
                </a:solidFill>
              </a:rPr>
              <a:t>One CPU worker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65908-C9C2-4980-A4E9-B81CB139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816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8E0"/>
          </a:solidFill>
          <a:ln xmlns:a="http://schemas.openxmlformats.org/drawingml/2006/main" w="9525">
            <a:solidFill>
              <a:srgbClr val="FFE8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D3E2B"/>
                </a:solidFill>
              </a:defRPr>
            </a:pPr>
            <a:r>
              <a:rPr sz="1125" b="1">
                <a:solidFill>
                  <a:srgbClr val="9D3E2B"/>
                </a:solidFill>
              </a:rPr>
              <a:t>No hosted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90DCC-56A2-4EAB-ABBC-16763D95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81650"/>
            <a:ext cx="1657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EA"/>
          </a:solidFill>
          <a:ln xmlns:a="http://schemas.openxmlformats.org/drawingml/2006/main" w="9525">
            <a:solidFill>
              <a:srgbClr val="EAF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C8F3D"/>
                </a:solidFill>
              </a:defRPr>
            </a:pPr>
            <a:r>
              <a:rPr sz="1125" b="1">
                <a:solidFill>
                  <a:srgbClr val="5C8F3D"/>
                </a:solidFill>
              </a:rPr>
              <a:t>Handover-ready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18A66-A182-40C6-AE34-FB505464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VaaniSetu for BAIF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EF5E-5E3B-4417-8F7C-78D0F3C5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26C66"/>
                </a:solidFill>
              </a:defRPr>
            </a:pPr>
            <a:r>
              <a:rPr sz="1200" b="1">
                <a:solidFill>
                  <a:srgbClr val="126C66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C6E07-178E-46E0-91CD-3638970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C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0251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63D38-13B6-465B-B377-748ACB9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26C66"/>
                </a:solidFill>
              </a:defRPr>
            </a:pPr>
            <a:r>
              <a:rPr sz="1050" b="1">
                <a:solidFill>
                  <a:srgbClr val="126C66"/>
                </a:solidFill>
              </a:rPr>
              <a:t>QUALITY IS A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E0CD6-A7B7-45A2-A163-EEC0A92C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Trust is engineered around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BEE41-31BA-4BDA-B760-9F33406F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Every output carries evidence a reviewer can inspect, correct and reuse.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D3E56-FEB3-4D64-BED1-5AF25E9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429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3F0E-C30D-4A3A-8163-C1A43C6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Release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92BB-E031-4D3D-9A0E-ECFA730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3A"/>
          </a:solidFill>
          <a:ln xmlns:a="http://schemas.openxmlformats.org/drawingml/2006/main" w="9525">
            <a:solidFill>
              <a:srgbClr val="EAA2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6666C-4243-48FF-A9A5-6F50AA00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69 automated tests pass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FCCAB-8A3F-4129-84A2-AA1F209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3A"/>
          </a:solidFill>
          <a:ln xmlns:a="http://schemas.openxmlformats.org/drawingml/2006/main" w="9525">
            <a:solidFill>
              <a:srgbClr val="EAA2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88BD0-CF6F-42BF-8070-49CE7A8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20 adversarial regressions target failures and races.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47B73-AE17-4183-BEAA-A553998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3A"/>
          </a:solidFill>
          <a:ln xmlns:a="http://schemas.openxmlformats.org/drawingml/2006/main" w="9525">
            <a:solidFill>
              <a:srgbClr val="EAA2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5419F-730A-48A9-A23F-7098098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00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Six English, Hindi and Marathi directions.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AF266-69D9-43E6-974B-5853B3D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A23A"/>
          </a:solidFill>
          <a:ln xmlns:a="http://schemas.openxmlformats.org/drawingml/2006/main" w="9525">
            <a:solidFill>
              <a:srgbClr val="EAA2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47E48-773C-4081-8106-75694F19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30 min audio · 15 min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D678F-1FC4-462C-B188-6677C3E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1181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Validate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Limits +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21F8A-3B96-4AA7-A339-28FCBCFC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181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Extract /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transcribe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24878-E0D7-4EF2-86EA-F6B8DBD8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1181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Translate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1A28C-E72B-4B29-B025-6F2885B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181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6C66"/>
          </a:solidFill>
          <a:ln xmlns:a="http://schemas.openxmlformats.org/drawingml/2006/main" w="9525">
            <a:solidFill>
              <a:srgbClr val="126C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+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6CB7B-D87F-4678-9842-3DE4F1D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76500"/>
            <a:ext cx="11811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Package +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91135-007A-4FA6-B490-06E23A7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B0B4B-50F6-46FC-A9A1-06650F1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47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C4498-1615-438C-ADFA-7C5453A8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42C6F-47FB-4262-AB52-BC264A5B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47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8FF3A-094C-4C29-AE0D-57373AF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DC966-D196-4980-98B0-E43E7E8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47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5CFC8-3451-4025-AA60-ECF9ABD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90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9D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FAD6F-ADAE-4E00-BF63-9F22F3A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47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69D8D"/>
                </a:solidFill>
              </a:defRPr>
            </a:pPr>
            <a:r>
              <a:rPr sz="1500" b="1">
                <a:solidFill>
                  <a:srgbClr val="A69D8D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0C662-51BD-4E7A-92BC-1CAEB4E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6210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C9DC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Built-in controls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Numbers, units, URLs and email preservation · target-script and terminology checks · model provenance · versioned corrections · checksum tamper rejection.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5573D-B294-486D-8F84-9875C6B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VaaniSetu for BAIF Hackathon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D72D5-A024-4728-A2AB-F373386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26C66"/>
                </a:solidFill>
              </a:defRPr>
            </a:pPr>
            <a:r>
              <a:rPr sz="1200" b="1">
                <a:solidFill>
                  <a:srgbClr val="126C66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55467-1DB2-4C58-94F6-FB025C48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C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8717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FC4E5-60AC-4DE9-8153-C18B35A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26C66"/>
                </a:solidFill>
              </a:defRPr>
            </a:pPr>
            <a:r>
              <a:rPr sz="1050" b="1">
                <a:solidFill>
                  <a:srgbClr val="126C66"/>
                </a:solidFill>
              </a:rPr>
              <a:t>SUBMISSION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7A42-3756-471D-8CDA-0F80F31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Ready to demonstrate tomorrow—honest about the last three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F41EC-AB73-4BEF-B068-4F17A934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37083"/>
                </a:solidFill>
              </a:defRPr>
            </a:pPr>
            <a:r>
              <a:rPr sz="1425" b="0">
                <a:solidFill>
                  <a:srgbClr val="637083"/>
                </a:solidFill>
              </a:rPr>
              <a:t>All independent engineering and submission work is packaged; external acceptance stays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B3687-4EBD-4D70-8F0D-082862F9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0670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BD593-254E-433F-8330-708CC8B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66"/>
          </a:solidFill>
          <a:ln xmlns:a="http://schemas.openxmlformats.org/drawingml/2006/main" w="9525">
            <a:solidFill>
              <a:srgbClr val="126C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9996-71F1-44DA-9F6B-6D2BFFF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Complete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7899F-B804-4C74-9B59-4CC24F7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37083"/>
                </a:solidFill>
              </a:defRPr>
            </a:pPr>
            <a:r>
              <a:rPr sz="1200" b="0">
                <a:solidFill>
                  <a:srgbClr val="637083"/>
                </a:solidFill>
              </a:rPr>
              <a:t>Text, documents, audio/video, review, reuse and offline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6CF9F-6B4C-4DA5-82B9-C1263C6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0670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7643C-26EB-4FE3-9D18-4C45A2E2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A5A00"/>
                </a:solidFill>
              </a:defRPr>
            </a:pPr>
            <a:r>
              <a:rPr sz="1125" b="1">
                <a:solidFill>
                  <a:srgbClr val="8A5A00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F677-61F6-4DB4-A40A-0E6D3BF2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Release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0D6BB-4A01-4D2C-8A4A-58BCC800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37083"/>
                </a:solidFill>
              </a:defRPr>
            </a:pPr>
            <a:r>
              <a:rPr sz="1200" b="0">
                <a:solidFill>
                  <a:srgbClr val="637083"/>
                </a:solidFill>
              </a:rPr>
              <a:t>Tests, browser/media/stress evidence and verified packages.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1523E-3E56-4B19-9AD3-A4B0C6E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670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864DC-4110-402D-BC53-9537BD8D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8E0"/>
          </a:solidFill>
          <a:ln xmlns:a="http://schemas.openxmlformats.org/drawingml/2006/main" w="9525">
            <a:solidFill>
              <a:srgbClr val="FFE8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D3E2B"/>
                </a:solidFill>
              </a:defRPr>
            </a:pPr>
            <a:r>
              <a:rPr sz="1125" b="1">
                <a:solidFill>
                  <a:srgbClr val="9D3E2B"/>
                </a:solidFill>
              </a:rPr>
              <a:t>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83D9F-CF19-4347-875A-AFD9666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BAIF-operable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DCB0D-D2DF-4102-B0B7-4025773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37083"/>
                </a:solidFill>
              </a:defRPr>
            </a:pPr>
            <a:r>
              <a:rPr sz="1200" b="0">
                <a:solidFill>
                  <a:srgbClr val="637083"/>
                </a:solidFill>
              </a:rPr>
              <a:t>Windows setup, preflight, backup, UAT and guides.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FDA19-3933-421B-A1F8-358443B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8961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External acceptance kept visible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IndicTrans2 terms/cache · Hindi/Marathi reviewer sign-off · clean Windows 11 baseline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6DDC1-6132-4CAD-AFBA-0106DF5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34671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C9DC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No hidden dependency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Normal jobs stay local; production acceptance waits only for the three named gates.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EBD06-0376-4349-8E8A-C0020C15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625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A2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C5663-977F-4F5E-8B01-40F0ECA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9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AA23A"/>
                </a:solidFill>
              </a:defRPr>
            </a:pPr>
            <a:r>
              <a:rPr sz="1500" b="1">
                <a:solidFill>
                  <a:srgbClr val="EAA23A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88E05-AA94-4C82-ADF9-CA2E820E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912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D4F4B"/>
                </a:solidFill>
              </a:defRPr>
            </a:pPr>
            <a:r>
              <a:rPr sz="1500" b="1">
                <a:solidFill>
                  <a:srgbClr val="0D4F4B"/>
                </a:solidFill>
              </a:rPr>
              <a:t>VaaniSetu makes translated knowledge trustworthy, reusable and reachable—office to field.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04547-7660-4231-BA2F-8FA57458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VaaniSetu for BAIF Hackathon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C65BE-8244-41ED-9C18-66CD453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26C66"/>
                </a:solidFill>
              </a:defRPr>
            </a:pPr>
            <a:r>
              <a:rPr sz="1200" b="1">
                <a:solidFill>
                  <a:srgbClr val="126C66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17A4D-398B-46BB-A735-E69B159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DC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5507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2026-07-28T02:40:27.0110000Z</dcterms:created>
  <dcterms:modified xsi:type="dcterms:W3CDTF">2026-07-28T02:40:27.0110000Z</dcterms:modified>
</coreProperties>
</file>